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 title card. Edit the episode line. Holds under the jingle after the sun-logo pre-roll (see show/PIPELINE.md, stage 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Lower third overlay. Export this page as PNG with 'Transparent background' ticked so it sits over the interview footage.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Lower third overlay. Export this page as PNG with 'Transparent background' ticked so it sits over the interview footage.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Program card overlay. Export as PNG with 'Transparent background' ticked. Numbers/URLs are from the script cue below, which carries every fact-check fix; if the audio disagrees, show/epN/fact-check-full-report.json wins -- flag it to JP.</a:t>
            </a:r>
          </a:p>
          <a:p/>
          <a:p>
            <a:r>
              <a:t>Source cue:</a:t>
            </a:r>
          </a:p>
          <a:p>
            <a:r>
              <a:t>[POST: PROGRAM CARD -- CARE / FERA: pge.com or 1-877-660-6789 -- LIHEAP via Project GO: 1-888-524-5705, press 2 for Nevada County]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Program card overlay. Export as PNG with 'Transparent background' ticked. Numbers/URLs are from the script cue below, which carries every fact-check fix; if the audio disagrees, show/epN/fact-check-full-report.json wins -- flag it to JP.</a:t>
            </a:r>
          </a:p>
          <a:p/>
          <a:p>
            <a:r>
              <a:t>Source cue:</a:t>
            </a:r>
          </a:p>
          <a:p>
            <a:r>
              <a:t>[POST: PROGRAM CARD -- Energy Savings Assistance: pge.com -- Weatherization: Project GO 1-888-524-5705, press 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Program card overlay. Export as PNG with 'Transparent background' ticked. Numbers/URLs are from the script cue below, which carries every fact-check fix; if the audio disagrees, show/epN/fact-check-full-report.json wins -- flag it to JP.</a:t>
            </a:r>
          </a:p>
          <a:p/>
          <a:p>
            <a:r>
              <a:t>Source cue:</a:t>
            </a:r>
          </a:p>
          <a:p>
            <a:r>
              <a:t>[POST: PROGRAM CARD -- Medical Baseline + battery help: pge.com -- batteries: dial 2-1-1 or FREED 530-477-3333 -- rebates up to $500 for CARE/FERA customers]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Program card overlay. Export as PNG with 'Transparent background' ticked. Numbers/URLs are from the script cue below, which carries every fact-check fix; if the audio disagrees, show/epN/fact-check-full-report.json wins -- flag it to JP.</a:t>
            </a:r>
          </a:p>
          <a:p/>
          <a:p>
            <a:r>
              <a:t>Source cue:</a:t>
            </a:r>
          </a:p>
          <a:p>
            <a:r>
              <a:t>[POST: PROGRAM CARD -- Regional Housing Authority: regionalha.org / 888-671-0220]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Program card overlay. Export as PNG with 'Transparent background' ticked. Numbers/URLs are from the script cue below, which carries every fact-check fix; if the audio disagrees, show/epN/fact-check-full-report.json wins -- flag it to JP.</a:t>
            </a:r>
          </a:p>
          <a:p/>
          <a:p>
            <a:r>
              <a:t>Source cue:</a:t>
            </a:r>
          </a:p>
          <a:p>
            <a:r>
              <a:t>[POST: PROGRAM CARD -- Housing crisis: dial 2-1-1 -- Hospitality House shelter line 530-271-7144 (call first; check-in 4:00-5:30 pm daily) -- Truckee Navigation Center referrals 530-606-5457]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Program card overlay. Export as PNG with 'Transparent background' ticked. Numbers/URLs are from the script cue below, which carries every fact-check fix; if the audio disagrees, show/epN/fact-check-full-report.json wins -- flag it to JP.</a:t>
            </a:r>
          </a:p>
          <a:p/>
          <a:p>
            <a:r>
              <a:t>Source cue:</a:t>
            </a:r>
          </a:p>
          <a:p>
            <a:r>
              <a:t>[POST: PROGRAM CARD -- Smog repair + vehicle retirement: bar.ca.gov/cap]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Program card overlay. Export as PNG with 'Transparent background' ticked. Numbers/URLs are from the script cue below, which carries every fact-check fix; if the audio disagrees, show/epN/fact-check-full-report.json wins -- flag it to JP.</a:t>
            </a:r>
          </a:p>
          <a:p/>
          <a:p>
            <a:r>
              <a:t>Source cue:</a:t>
            </a:r>
          </a:p>
          <a:p>
            <a:r>
              <a:t>[POST: PROGRAM CARD -- CA Low Cost Auto Insurance: mylowcostauto.com / 1-866-602-8861]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Program card overlay. Export as PNG with 'Transparent background' ticked. Numbers/URLs are from the script cue below, which carries every fact-check fix; if the audio disagrees, show/epN/fact-check-full-report.json wins -- flag it to JP.</a:t>
            </a:r>
          </a:p>
          <a:p/>
          <a:p>
            <a:r>
              <a:t>Source cue:</a:t>
            </a:r>
          </a:p>
          <a:p>
            <a:r>
              <a:t>[POST: PROGRAM CARD -- Driving Clean Assistance Program: drivingcleanca.org (verify open) -- PG&amp;E used-EV rebate (income-qualified $4,000): evrebates.pge.com]</a:t>
            </a:r>
          </a:p>
          <a:p/>
          <a:p>
            <a:r>
              <a:t>Note: Cue says '(verify open)': confirm DCAP is accepting applications before this card airs (see show/ep4 week-of recheck).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Program card overlay. Export as PNG with 'Transparent background' ticked. Numbers/URLs are from the script cue below, which carries every fact-check fix; if the audio disagrees, show/epN/fact-check-full-report.json wins -- flag it to JP.</a:t>
            </a:r>
          </a:p>
          <a:p/>
          <a:p>
            <a:r>
              <a:t>Source cue:</a:t>
            </a:r>
          </a:p>
          <a:p>
            <a:r>
              <a:t>[POST: PROGRAM CARD -- NID Low Income Rate Assistance: 530-273-6185]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Program card overlay. Export as PNG with 'Transparent background' ticked. Numbers/URLs are from the script cue below, which carries every fact-check fix; if the audio disagrees, show/epN/fact-check-full-report.json wins -- flag it to JP.</a:t>
            </a:r>
          </a:p>
          <a:p/>
          <a:p>
            <a:r>
              <a:t>Source cue:</a:t>
            </a:r>
          </a:p>
          <a:p>
            <a:r>
              <a:t>[POST: PROGRAM CARD -- Nevada County Connects: 530-477-0103 -- Nevada County Now (door-to-door): 530-271-7433, book the day before]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Program card overlay. Export as PNG with 'Transparent background' ticked. Numbers/URLs are from the script cue below, which carries every fact-check fix; if the audio disagrees, show/epN/fact-check-full-report.json wins -- flag it to JP.</a:t>
            </a:r>
          </a:p>
          <a:p/>
          <a:p>
            <a:r>
              <a:t>Source cue:</a:t>
            </a:r>
          </a:p>
          <a:p>
            <a:r>
              <a:t>[POST: PROGRAM CARD -- TART + TART Connect (Truckee): free to ride -- Medi-Cal rides: Partnership HealthPlan 866-828-2303, book 5+ days ahead]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Outro end card -- plays under the closing jingle. Series invariant: 211 + findhelp.org + techempower.org always 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Intro title card"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un logo" descr="techempower-s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0500" y="1016000"/>
            <a:ext cx="1651000" cy="1651000"/>
          </a:xfrm>
          <a:prstGeom prst="rect">
            <a:avLst/>
          </a:prstGeom>
        </p:spPr>
      </p:pic>
      <p:sp>
        <p:nvSpPr>
          <p:cNvPr id="3" name="Show title"/>
          <p:cNvSpPr txBox="1"/>
          <p:nvPr/>
        </p:nvSpPr>
        <p:spPr>
          <a:xfrm>
            <a:off x="1016000" y="2889250"/>
            <a:ext cx="101600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200" b="1" i="0">
                <a:solidFill>
                  <a:srgbClr val="2C1F1A"/>
                </a:solidFill>
                <a:latin typeface="Fraunces"/>
              </a:rPr>
              <a:t>Wait, I Qualify?!</a:t>
            </a:r>
          </a:p>
        </p:txBody>
      </p:sp>
      <p:sp>
        <p:nvSpPr>
          <p:cNvPr id="4" name="Tagline"/>
          <p:cNvSpPr txBox="1"/>
          <p:nvPr/>
        </p:nvSpPr>
        <p:spPr>
          <a:xfrm>
            <a:off x="1651000" y="3683000"/>
            <a:ext cx="889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 i="0">
                <a:solidFill>
                  <a:srgbClr val="5A4E42"/>
                </a:solidFill>
                <a:latin typeface="DM Sans"/>
              </a:rPr>
              <a:t>Free Technology Resources for Everyone</a:t>
            </a:r>
          </a:p>
        </p:txBody>
      </p:sp>
      <p:sp>
        <p:nvSpPr>
          <p:cNvPr id="5" name="Teal rule"/>
          <p:cNvSpPr/>
          <p:nvPr/>
        </p:nvSpPr>
        <p:spPr>
          <a:xfrm>
            <a:off x="5334000" y="4089400"/>
            <a:ext cx="1524000" cy="25400"/>
          </a:xfrm>
          <a:prstGeom prst="rect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pisode line"/>
          <p:cNvSpPr txBox="1"/>
          <p:nvPr/>
        </p:nvSpPr>
        <p:spPr>
          <a:xfrm>
            <a:off x="1016000" y="4241800"/>
            <a:ext cx="1016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0">
                <a:solidFill>
                  <a:srgbClr val="0F766E"/>
                </a:solidFill>
                <a:latin typeface="DM Sans"/>
              </a:rPr>
              <a:t>Episode 4   ·   Home + Transportation</a:t>
            </a:r>
          </a:p>
        </p:txBody>
      </p:sp>
      <p:sp>
        <p:nvSpPr>
          <p:cNvPr id="7" name="Footer bar"/>
          <p:cNvSpPr/>
          <p:nvPr/>
        </p:nvSpPr>
        <p:spPr>
          <a:xfrm>
            <a:off x="0" y="6451600"/>
            <a:ext cx="12192000" cy="406400"/>
          </a:xfrm>
          <a:prstGeom prst="rect">
            <a:avLst/>
          </a:prstGeom>
          <a:solidFill>
            <a:srgbClr val="1D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 URL"/>
          <p:cNvSpPr txBox="1"/>
          <p:nvPr/>
        </p:nvSpPr>
        <p:spPr>
          <a:xfrm>
            <a:off x="0" y="6451600"/>
            <a:ext cx="12192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DM Sans"/>
              </a:rPr>
              <a:t>techempower.org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ower third — Jeff Hein">
    <p:spTree>
      <p:nvGrpSpPr>
        <p:cNvPr id="1" name=""/>
        <p:cNvGrpSpPr/>
        <p:nvPr/>
      </p:nvGrpSpPr>
      <p:grpSpPr/>
      <p:sp>
        <p:nvSpPr>
          <p:cNvPr id="2" name="Lower third box"/>
          <p:cNvSpPr/>
          <p:nvPr/>
        </p:nvSpPr>
        <p:spPr>
          <a:xfrm>
            <a:off x="381000" y="5842000"/>
            <a:ext cx="3048000" cy="457200"/>
          </a:xfrm>
          <a:prstGeom prst="roundRect">
            <a:avLst>
              <a:gd name="adj" fmla="val 5555"/>
            </a:avLst>
          </a:prstGeom>
          <a:solidFill>
            <a:srgbClr val="1D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er accent"/>
          <p:cNvSpPr/>
          <p:nvPr/>
        </p:nvSpPr>
        <p:spPr>
          <a:xfrm>
            <a:off x="381000" y="5842000"/>
            <a:ext cx="38100" cy="4572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ame"/>
          <p:cNvSpPr txBox="1"/>
          <p:nvPr/>
        </p:nvSpPr>
        <p:spPr>
          <a:xfrm>
            <a:off x="520700" y="5861050"/>
            <a:ext cx="279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Fraunces"/>
              </a:rPr>
              <a:t>Jeff Hein</a:t>
            </a:r>
          </a:p>
        </p:txBody>
      </p:sp>
      <p:sp>
        <p:nvSpPr>
          <p:cNvPr id="5" name="Role"/>
          <p:cNvSpPr txBox="1"/>
          <p:nvPr/>
        </p:nvSpPr>
        <p:spPr>
          <a:xfrm>
            <a:off x="520700" y="6102350"/>
            <a:ext cx="2794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E2E5E2"/>
                </a:solidFill>
                <a:latin typeface="DM Sans"/>
              </a:rPr>
              <a:t>TechEMPOWER Founder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ower third — Shawna Hein">
    <p:spTree>
      <p:nvGrpSpPr>
        <p:cNvPr id="1" name=""/>
        <p:cNvGrpSpPr/>
        <p:nvPr/>
      </p:nvGrpSpPr>
      <p:grpSpPr/>
      <p:sp>
        <p:nvSpPr>
          <p:cNvPr id="2" name="Lower third box"/>
          <p:cNvSpPr/>
          <p:nvPr/>
        </p:nvSpPr>
        <p:spPr>
          <a:xfrm>
            <a:off x="381000" y="5842000"/>
            <a:ext cx="3048000" cy="457200"/>
          </a:xfrm>
          <a:prstGeom prst="roundRect">
            <a:avLst>
              <a:gd name="adj" fmla="val 5555"/>
            </a:avLst>
          </a:prstGeom>
          <a:solidFill>
            <a:srgbClr val="1D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er accent"/>
          <p:cNvSpPr/>
          <p:nvPr/>
        </p:nvSpPr>
        <p:spPr>
          <a:xfrm>
            <a:off x="381000" y="5842000"/>
            <a:ext cx="38100" cy="4572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ame"/>
          <p:cNvSpPr txBox="1"/>
          <p:nvPr/>
        </p:nvSpPr>
        <p:spPr>
          <a:xfrm>
            <a:off x="520700" y="5861050"/>
            <a:ext cx="279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Fraunces"/>
              </a:rPr>
              <a:t>Shawna Hein</a:t>
            </a:r>
          </a:p>
        </p:txBody>
      </p:sp>
      <p:sp>
        <p:nvSpPr>
          <p:cNvPr id="5" name="Role"/>
          <p:cNvSpPr txBox="1"/>
          <p:nvPr/>
        </p:nvSpPr>
        <p:spPr>
          <a:xfrm>
            <a:off x="520700" y="6102350"/>
            <a:ext cx="2794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E2E5E2"/>
                </a:solidFill>
                <a:latin typeface="DM Sans"/>
              </a:rPr>
              <a:t>Co-host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Program card — CARE / FERA + LIHEAP">
    <p:spTree>
      <p:nvGrpSpPr>
        <p:cNvPr id="1" name=""/>
        <p:cNvGrpSpPr/>
        <p:nvPr/>
      </p:nvGrpSpPr>
      <p:grpSpPr/>
      <p:sp>
        <p:nvSpPr>
          <p:cNvPr id="2" name="Card panel"/>
          <p:cNvSpPr/>
          <p:nvPr/>
        </p:nvSpPr>
        <p:spPr>
          <a:xfrm>
            <a:off x="1905000" y="4572000"/>
            <a:ext cx="8382000" cy="1778000"/>
          </a:xfrm>
          <a:prstGeom prst="roundRect">
            <a:avLst>
              <a:gd name="adj" fmla="val 5000"/>
            </a:avLst>
          </a:prstGeom>
          <a:solidFill>
            <a:srgbClr val="4A3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er accent"/>
          <p:cNvSpPr/>
          <p:nvPr/>
        </p:nvSpPr>
        <p:spPr>
          <a:xfrm>
            <a:off x="1905000" y="4572000"/>
            <a:ext cx="50800" cy="17780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rogram name"/>
          <p:cNvSpPr txBox="1"/>
          <p:nvPr/>
        </p:nvSpPr>
        <p:spPr>
          <a:xfrm>
            <a:off x="2184400" y="4737100"/>
            <a:ext cx="7823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Fraunces"/>
              </a:rPr>
              <a:t>CARE / FERA + LIHEAP</a:t>
            </a:r>
          </a:p>
        </p:txBody>
      </p:sp>
      <p:sp>
        <p:nvSpPr>
          <p:cNvPr id="5" name="Rule"/>
          <p:cNvSpPr/>
          <p:nvPr/>
        </p:nvSpPr>
        <p:spPr>
          <a:xfrm>
            <a:off x="2184400" y="5118100"/>
            <a:ext cx="7823200" cy="127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ullet 1"/>
          <p:cNvSpPr/>
          <p:nvPr/>
        </p:nvSpPr>
        <p:spPr>
          <a:xfrm>
            <a:off x="2197100" y="53149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ine 1 label"/>
          <p:cNvSpPr txBox="1"/>
          <p:nvPr/>
        </p:nvSpPr>
        <p:spPr>
          <a:xfrm>
            <a:off x="2362200" y="5245100"/>
            <a:ext cx="7556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4A03C"/>
                </a:solidFill>
                <a:latin typeface="DM Sans"/>
              </a:rPr>
              <a:t>CARE / FERA — PG&amp;E bill discount</a:t>
            </a:r>
          </a:p>
        </p:txBody>
      </p:sp>
      <p:sp>
        <p:nvSpPr>
          <p:cNvPr id="8" name="Line 1 detail"/>
          <p:cNvSpPr txBox="1"/>
          <p:nvPr/>
        </p:nvSpPr>
        <p:spPr>
          <a:xfrm>
            <a:off x="2362200" y="5448300"/>
            <a:ext cx="7556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FBF6EE"/>
                </a:solidFill>
                <a:latin typeface="DM Sans"/>
              </a:rPr>
              <a:t>pge.com  ·  1-877-660-6789</a:t>
            </a:r>
          </a:p>
        </p:txBody>
      </p:sp>
      <p:sp>
        <p:nvSpPr>
          <p:cNvPr id="9" name="Bullet 2"/>
          <p:cNvSpPr/>
          <p:nvPr/>
        </p:nvSpPr>
        <p:spPr>
          <a:xfrm>
            <a:off x="2197100" y="57594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ine 2 label"/>
          <p:cNvSpPr txBox="1"/>
          <p:nvPr/>
        </p:nvSpPr>
        <p:spPr>
          <a:xfrm>
            <a:off x="2362200" y="5689600"/>
            <a:ext cx="7556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4A03C"/>
                </a:solidFill>
                <a:latin typeface="DM Sans"/>
              </a:rPr>
              <a:t>LIHEAP via Project GO</a:t>
            </a:r>
          </a:p>
        </p:txBody>
      </p:sp>
      <p:sp>
        <p:nvSpPr>
          <p:cNvPr id="11" name="Line 2 detail"/>
          <p:cNvSpPr txBox="1"/>
          <p:nvPr/>
        </p:nvSpPr>
        <p:spPr>
          <a:xfrm>
            <a:off x="2362200" y="5892800"/>
            <a:ext cx="7556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FBF6EE"/>
                </a:solidFill>
                <a:latin typeface="DM Sans"/>
              </a:rPr>
              <a:t>1-888-524-5705, press 2 for Nevada County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Program card — Energy Savings Assistance + Weatherization">
    <p:spTree>
      <p:nvGrpSpPr>
        <p:cNvPr id="1" name=""/>
        <p:cNvGrpSpPr/>
        <p:nvPr/>
      </p:nvGrpSpPr>
      <p:grpSpPr/>
      <p:sp>
        <p:nvSpPr>
          <p:cNvPr id="2" name="Card panel"/>
          <p:cNvSpPr/>
          <p:nvPr/>
        </p:nvSpPr>
        <p:spPr>
          <a:xfrm>
            <a:off x="1905000" y="4572000"/>
            <a:ext cx="8382000" cy="1778000"/>
          </a:xfrm>
          <a:prstGeom prst="roundRect">
            <a:avLst>
              <a:gd name="adj" fmla="val 5000"/>
            </a:avLst>
          </a:prstGeom>
          <a:solidFill>
            <a:srgbClr val="4A3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er accent"/>
          <p:cNvSpPr/>
          <p:nvPr/>
        </p:nvSpPr>
        <p:spPr>
          <a:xfrm>
            <a:off x="1905000" y="4572000"/>
            <a:ext cx="50800" cy="17780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rogram name"/>
          <p:cNvSpPr txBox="1"/>
          <p:nvPr/>
        </p:nvSpPr>
        <p:spPr>
          <a:xfrm>
            <a:off x="2184400" y="4737100"/>
            <a:ext cx="7823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Fraunces"/>
              </a:rPr>
              <a:t>Energy Savings Assistance + Weatherization</a:t>
            </a:r>
          </a:p>
        </p:txBody>
      </p:sp>
      <p:sp>
        <p:nvSpPr>
          <p:cNvPr id="5" name="Rule"/>
          <p:cNvSpPr/>
          <p:nvPr/>
        </p:nvSpPr>
        <p:spPr>
          <a:xfrm>
            <a:off x="2184400" y="5118100"/>
            <a:ext cx="7823200" cy="127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ullet 1"/>
          <p:cNvSpPr/>
          <p:nvPr/>
        </p:nvSpPr>
        <p:spPr>
          <a:xfrm>
            <a:off x="2197100" y="53149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ine 1 label"/>
          <p:cNvSpPr txBox="1"/>
          <p:nvPr/>
        </p:nvSpPr>
        <p:spPr>
          <a:xfrm>
            <a:off x="2362200" y="5245100"/>
            <a:ext cx="7556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4A03C"/>
                </a:solidFill>
                <a:latin typeface="DM Sans"/>
              </a:rPr>
              <a:t>Energy Savings Assistance</a:t>
            </a:r>
          </a:p>
        </p:txBody>
      </p:sp>
      <p:sp>
        <p:nvSpPr>
          <p:cNvPr id="8" name="Line 1 detail"/>
          <p:cNvSpPr txBox="1"/>
          <p:nvPr/>
        </p:nvSpPr>
        <p:spPr>
          <a:xfrm>
            <a:off x="2362200" y="5448300"/>
            <a:ext cx="7556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FBF6EE"/>
                </a:solidFill>
                <a:latin typeface="DM Sans"/>
              </a:rPr>
              <a:t>pge.com</a:t>
            </a:r>
          </a:p>
        </p:txBody>
      </p:sp>
      <p:sp>
        <p:nvSpPr>
          <p:cNvPr id="9" name="Bullet 2"/>
          <p:cNvSpPr/>
          <p:nvPr/>
        </p:nvSpPr>
        <p:spPr>
          <a:xfrm>
            <a:off x="2197100" y="57594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ine 2 label"/>
          <p:cNvSpPr txBox="1"/>
          <p:nvPr/>
        </p:nvSpPr>
        <p:spPr>
          <a:xfrm>
            <a:off x="2362200" y="5689600"/>
            <a:ext cx="7556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4A03C"/>
                </a:solidFill>
                <a:latin typeface="DM Sans"/>
              </a:rPr>
              <a:t>Weatherization — Project GO</a:t>
            </a:r>
          </a:p>
        </p:txBody>
      </p:sp>
      <p:sp>
        <p:nvSpPr>
          <p:cNvPr id="11" name="Line 2 detail"/>
          <p:cNvSpPr txBox="1"/>
          <p:nvPr/>
        </p:nvSpPr>
        <p:spPr>
          <a:xfrm>
            <a:off x="2362200" y="5892800"/>
            <a:ext cx="7556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FBF6EE"/>
                </a:solidFill>
                <a:latin typeface="DM Sans"/>
              </a:rPr>
              <a:t>1-888-524-5705, press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Program card — Medical Baseline + battery help">
    <p:spTree>
      <p:nvGrpSpPr>
        <p:cNvPr id="1" name=""/>
        <p:cNvGrpSpPr/>
        <p:nvPr/>
      </p:nvGrpSpPr>
      <p:grpSpPr/>
      <p:sp>
        <p:nvSpPr>
          <p:cNvPr id="2" name="Card panel"/>
          <p:cNvSpPr/>
          <p:nvPr/>
        </p:nvSpPr>
        <p:spPr>
          <a:xfrm>
            <a:off x="1905000" y="4546600"/>
            <a:ext cx="8382000" cy="1803400"/>
          </a:xfrm>
          <a:prstGeom prst="roundRect">
            <a:avLst>
              <a:gd name="adj" fmla="val 4929"/>
            </a:avLst>
          </a:prstGeom>
          <a:solidFill>
            <a:srgbClr val="4A3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er accent"/>
          <p:cNvSpPr/>
          <p:nvPr/>
        </p:nvSpPr>
        <p:spPr>
          <a:xfrm>
            <a:off x="1905000" y="4546600"/>
            <a:ext cx="50800" cy="18034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rogram name"/>
          <p:cNvSpPr txBox="1"/>
          <p:nvPr/>
        </p:nvSpPr>
        <p:spPr>
          <a:xfrm>
            <a:off x="2184400" y="4711700"/>
            <a:ext cx="7823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Fraunces"/>
              </a:rPr>
              <a:t>Medical Baseline + battery help</a:t>
            </a:r>
          </a:p>
        </p:txBody>
      </p:sp>
      <p:sp>
        <p:nvSpPr>
          <p:cNvPr id="5" name="Rule"/>
          <p:cNvSpPr/>
          <p:nvPr/>
        </p:nvSpPr>
        <p:spPr>
          <a:xfrm>
            <a:off x="2184400" y="5092700"/>
            <a:ext cx="7823200" cy="127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ullet 1"/>
          <p:cNvSpPr/>
          <p:nvPr/>
        </p:nvSpPr>
        <p:spPr>
          <a:xfrm>
            <a:off x="2197100" y="52895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ine 1"/>
          <p:cNvSpPr txBox="1"/>
          <p:nvPr/>
        </p:nvSpPr>
        <p:spPr>
          <a:xfrm>
            <a:off x="2362200" y="5219700"/>
            <a:ext cx="7556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BF6EE"/>
                </a:solidFill>
                <a:latin typeface="DM Sans"/>
              </a:rPr>
              <a:t>Medical Baseline: pge.com</a:t>
            </a:r>
          </a:p>
        </p:txBody>
      </p:sp>
      <p:sp>
        <p:nvSpPr>
          <p:cNvPr id="8" name="Bullet 2"/>
          <p:cNvSpPr/>
          <p:nvPr/>
        </p:nvSpPr>
        <p:spPr>
          <a:xfrm>
            <a:off x="2197100" y="55943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ine 2"/>
          <p:cNvSpPr txBox="1"/>
          <p:nvPr/>
        </p:nvSpPr>
        <p:spPr>
          <a:xfrm>
            <a:off x="2362200" y="5524500"/>
            <a:ext cx="7556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BF6EE"/>
                </a:solidFill>
                <a:latin typeface="DM Sans"/>
              </a:rPr>
              <a:t>Batteries: dial 2-1-1 or FREED 530-477-3333</a:t>
            </a:r>
          </a:p>
        </p:txBody>
      </p:sp>
      <p:sp>
        <p:nvSpPr>
          <p:cNvPr id="10" name="Bullet 3"/>
          <p:cNvSpPr/>
          <p:nvPr/>
        </p:nvSpPr>
        <p:spPr>
          <a:xfrm>
            <a:off x="2197100" y="58991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ine 3"/>
          <p:cNvSpPr txBox="1"/>
          <p:nvPr/>
        </p:nvSpPr>
        <p:spPr>
          <a:xfrm>
            <a:off x="2362200" y="5829300"/>
            <a:ext cx="7556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BF6EE"/>
                </a:solidFill>
                <a:latin typeface="DM Sans"/>
              </a:rPr>
              <a:t>Rebates up to $500 for CARE/FERA customers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Program card — Regional Housing Authority">
    <p:spTree>
      <p:nvGrpSpPr>
        <p:cNvPr id="1" name=""/>
        <p:cNvGrpSpPr/>
        <p:nvPr/>
      </p:nvGrpSpPr>
      <p:grpSpPr/>
      <p:sp>
        <p:nvSpPr>
          <p:cNvPr id="2" name="Card panel"/>
          <p:cNvSpPr/>
          <p:nvPr/>
        </p:nvSpPr>
        <p:spPr>
          <a:xfrm>
            <a:off x="1905000" y="4851400"/>
            <a:ext cx="8382000" cy="1498600"/>
          </a:xfrm>
          <a:prstGeom prst="roundRect">
            <a:avLst>
              <a:gd name="adj" fmla="val 5932"/>
            </a:avLst>
          </a:prstGeom>
          <a:solidFill>
            <a:srgbClr val="4A3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er accent"/>
          <p:cNvSpPr/>
          <p:nvPr/>
        </p:nvSpPr>
        <p:spPr>
          <a:xfrm>
            <a:off x="1905000" y="4851400"/>
            <a:ext cx="50800" cy="14986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rogram name"/>
          <p:cNvSpPr txBox="1"/>
          <p:nvPr/>
        </p:nvSpPr>
        <p:spPr>
          <a:xfrm>
            <a:off x="2184400" y="5016500"/>
            <a:ext cx="7823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Fraunces"/>
              </a:rPr>
              <a:t>Regional Housing Authority</a:t>
            </a:r>
          </a:p>
        </p:txBody>
      </p:sp>
      <p:sp>
        <p:nvSpPr>
          <p:cNvPr id="5" name="Rule"/>
          <p:cNvSpPr/>
          <p:nvPr/>
        </p:nvSpPr>
        <p:spPr>
          <a:xfrm>
            <a:off x="2184400" y="5397500"/>
            <a:ext cx="7823200" cy="127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ullet 1"/>
          <p:cNvSpPr/>
          <p:nvPr/>
        </p:nvSpPr>
        <p:spPr>
          <a:xfrm>
            <a:off x="2197100" y="55943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ine 1"/>
          <p:cNvSpPr txBox="1"/>
          <p:nvPr/>
        </p:nvSpPr>
        <p:spPr>
          <a:xfrm>
            <a:off x="2362200" y="5524500"/>
            <a:ext cx="7556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BF6EE"/>
                </a:solidFill>
                <a:latin typeface="DM Sans"/>
              </a:rPr>
              <a:t>regionalha.org</a:t>
            </a:r>
          </a:p>
        </p:txBody>
      </p:sp>
      <p:sp>
        <p:nvSpPr>
          <p:cNvPr id="8" name="Bullet 2"/>
          <p:cNvSpPr/>
          <p:nvPr/>
        </p:nvSpPr>
        <p:spPr>
          <a:xfrm>
            <a:off x="2197100" y="58991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ine 2"/>
          <p:cNvSpPr txBox="1"/>
          <p:nvPr/>
        </p:nvSpPr>
        <p:spPr>
          <a:xfrm>
            <a:off x="2362200" y="5829300"/>
            <a:ext cx="7556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BF6EE"/>
                </a:solidFill>
                <a:latin typeface="DM Sans"/>
              </a:rPr>
              <a:t>888-671-0220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Program card — Housing crisis">
    <p:spTree>
      <p:nvGrpSpPr>
        <p:cNvPr id="1" name=""/>
        <p:cNvGrpSpPr/>
        <p:nvPr/>
      </p:nvGrpSpPr>
      <p:grpSpPr/>
      <p:sp>
        <p:nvSpPr>
          <p:cNvPr id="2" name="Card panel"/>
          <p:cNvSpPr/>
          <p:nvPr/>
        </p:nvSpPr>
        <p:spPr>
          <a:xfrm>
            <a:off x="1905000" y="4267200"/>
            <a:ext cx="8382000" cy="2082800"/>
          </a:xfrm>
          <a:prstGeom prst="roundRect">
            <a:avLst>
              <a:gd name="adj" fmla="val 4268"/>
            </a:avLst>
          </a:prstGeom>
          <a:solidFill>
            <a:srgbClr val="4A3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er accent"/>
          <p:cNvSpPr/>
          <p:nvPr/>
        </p:nvSpPr>
        <p:spPr>
          <a:xfrm>
            <a:off x="1905000" y="4267200"/>
            <a:ext cx="50800" cy="20828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rogram name"/>
          <p:cNvSpPr txBox="1"/>
          <p:nvPr/>
        </p:nvSpPr>
        <p:spPr>
          <a:xfrm>
            <a:off x="2184400" y="4432300"/>
            <a:ext cx="7823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Fraunces"/>
              </a:rPr>
              <a:t>Housing crisis</a:t>
            </a:r>
          </a:p>
        </p:txBody>
      </p:sp>
      <p:sp>
        <p:nvSpPr>
          <p:cNvPr id="5" name="Rule"/>
          <p:cNvSpPr/>
          <p:nvPr/>
        </p:nvSpPr>
        <p:spPr>
          <a:xfrm>
            <a:off x="2184400" y="4813300"/>
            <a:ext cx="7823200" cy="127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ullet 1"/>
          <p:cNvSpPr/>
          <p:nvPr/>
        </p:nvSpPr>
        <p:spPr>
          <a:xfrm>
            <a:off x="2197100" y="50101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ine 1"/>
          <p:cNvSpPr txBox="1"/>
          <p:nvPr/>
        </p:nvSpPr>
        <p:spPr>
          <a:xfrm>
            <a:off x="2362200" y="4940300"/>
            <a:ext cx="7556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BF6EE"/>
                </a:solidFill>
                <a:latin typeface="DM Sans"/>
              </a:rPr>
              <a:t>Dial 2-1-1</a:t>
            </a:r>
          </a:p>
        </p:txBody>
      </p:sp>
      <p:sp>
        <p:nvSpPr>
          <p:cNvPr id="8" name="Bullet 2"/>
          <p:cNvSpPr/>
          <p:nvPr/>
        </p:nvSpPr>
        <p:spPr>
          <a:xfrm>
            <a:off x="2197100" y="53149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ine 2 label"/>
          <p:cNvSpPr txBox="1"/>
          <p:nvPr/>
        </p:nvSpPr>
        <p:spPr>
          <a:xfrm>
            <a:off x="2362200" y="5245100"/>
            <a:ext cx="7556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4A03C"/>
                </a:solidFill>
                <a:latin typeface="DM Sans"/>
              </a:rPr>
              <a:t>Hospitality House shelter line — call first</a:t>
            </a:r>
          </a:p>
        </p:txBody>
      </p:sp>
      <p:sp>
        <p:nvSpPr>
          <p:cNvPr id="10" name="Line 2 detail"/>
          <p:cNvSpPr txBox="1"/>
          <p:nvPr/>
        </p:nvSpPr>
        <p:spPr>
          <a:xfrm>
            <a:off x="2362200" y="5448300"/>
            <a:ext cx="7556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FBF6EE"/>
                </a:solidFill>
                <a:latin typeface="DM Sans"/>
              </a:rPr>
              <a:t>530-271-7144  ·  check-in 4:00–5:30 pm daily</a:t>
            </a:r>
          </a:p>
        </p:txBody>
      </p:sp>
      <p:sp>
        <p:nvSpPr>
          <p:cNvPr id="11" name="Bullet 3"/>
          <p:cNvSpPr/>
          <p:nvPr/>
        </p:nvSpPr>
        <p:spPr>
          <a:xfrm>
            <a:off x="2197100" y="57594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ine 3 label"/>
          <p:cNvSpPr txBox="1"/>
          <p:nvPr/>
        </p:nvSpPr>
        <p:spPr>
          <a:xfrm>
            <a:off x="2362200" y="5689600"/>
            <a:ext cx="7556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4A03C"/>
                </a:solidFill>
                <a:latin typeface="DM Sans"/>
              </a:rPr>
              <a:t>Truckee Navigation Center referrals</a:t>
            </a:r>
          </a:p>
        </p:txBody>
      </p:sp>
      <p:sp>
        <p:nvSpPr>
          <p:cNvPr id="13" name="Line 3 detail"/>
          <p:cNvSpPr txBox="1"/>
          <p:nvPr/>
        </p:nvSpPr>
        <p:spPr>
          <a:xfrm>
            <a:off x="2362200" y="5892800"/>
            <a:ext cx="7556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FBF6EE"/>
                </a:solidFill>
                <a:latin typeface="DM Sans"/>
              </a:rPr>
              <a:t>530-606-5457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Program card — Smog repair + vehicle retirement">
    <p:spTree>
      <p:nvGrpSpPr>
        <p:cNvPr id="1" name=""/>
        <p:cNvGrpSpPr/>
        <p:nvPr/>
      </p:nvGrpSpPr>
      <p:grpSpPr/>
      <p:sp>
        <p:nvSpPr>
          <p:cNvPr id="2" name="Card panel"/>
          <p:cNvSpPr/>
          <p:nvPr/>
        </p:nvSpPr>
        <p:spPr>
          <a:xfrm>
            <a:off x="1905000" y="5156200"/>
            <a:ext cx="8382000" cy="1193800"/>
          </a:xfrm>
          <a:prstGeom prst="roundRect">
            <a:avLst>
              <a:gd name="adj" fmla="val 7446"/>
            </a:avLst>
          </a:prstGeom>
          <a:solidFill>
            <a:srgbClr val="4A3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er accent"/>
          <p:cNvSpPr/>
          <p:nvPr/>
        </p:nvSpPr>
        <p:spPr>
          <a:xfrm>
            <a:off x="1905000" y="5156200"/>
            <a:ext cx="50800" cy="11938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rogram name"/>
          <p:cNvSpPr txBox="1"/>
          <p:nvPr/>
        </p:nvSpPr>
        <p:spPr>
          <a:xfrm>
            <a:off x="2184400" y="5321300"/>
            <a:ext cx="7823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Fraunces"/>
              </a:rPr>
              <a:t>Smog repair + vehicle retirement</a:t>
            </a:r>
          </a:p>
        </p:txBody>
      </p:sp>
      <p:sp>
        <p:nvSpPr>
          <p:cNvPr id="5" name="Rule"/>
          <p:cNvSpPr/>
          <p:nvPr/>
        </p:nvSpPr>
        <p:spPr>
          <a:xfrm>
            <a:off x="2184400" y="5702300"/>
            <a:ext cx="7823200" cy="127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ullet 1"/>
          <p:cNvSpPr/>
          <p:nvPr/>
        </p:nvSpPr>
        <p:spPr>
          <a:xfrm>
            <a:off x="2197100" y="58991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ine 1"/>
          <p:cNvSpPr txBox="1"/>
          <p:nvPr/>
        </p:nvSpPr>
        <p:spPr>
          <a:xfrm>
            <a:off x="2362200" y="5829300"/>
            <a:ext cx="7556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BF6EE"/>
                </a:solidFill>
                <a:latin typeface="DM Sans"/>
              </a:rPr>
              <a:t>bar.ca.gov/cap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Program card — California Low Cost Auto Insurance">
    <p:spTree>
      <p:nvGrpSpPr>
        <p:cNvPr id="1" name=""/>
        <p:cNvGrpSpPr/>
        <p:nvPr/>
      </p:nvGrpSpPr>
      <p:grpSpPr/>
      <p:sp>
        <p:nvSpPr>
          <p:cNvPr id="2" name="Card panel"/>
          <p:cNvSpPr/>
          <p:nvPr/>
        </p:nvSpPr>
        <p:spPr>
          <a:xfrm>
            <a:off x="1905000" y="4851400"/>
            <a:ext cx="8382000" cy="1498600"/>
          </a:xfrm>
          <a:prstGeom prst="roundRect">
            <a:avLst>
              <a:gd name="adj" fmla="val 5932"/>
            </a:avLst>
          </a:prstGeom>
          <a:solidFill>
            <a:srgbClr val="4A3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er accent"/>
          <p:cNvSpPr/>
          <p:nvPr/>
        </p:nvSpPr>
        <p:spPr>
          <a:xfrm>
            <a:off x="1905000" y="4851400"/>
            <a:ext cx="50800" cy="14986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rogram name"/>
          <p:cNvSpPr txBox="1"/>
          <p:nvPr/>
        </p:nvSpPr>
        <p:spPr>
          <a:xfrm>
            <a:off x="2184400" y="5016500"/>
            <a:ext cx="7823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Fraunces"/>
              </a:rPr>
              <a:t>California Low Cost Auto Insurance</a:t>
            </a:r>
          </a:p>
        </p:txBody>
      </p:sp>
      <p:sp>
        <p:nvSpPr>
          <p:cNvPr id="5" name="Rule"/>
          <p:cNvSpPr/>
          <p:nvPr/>
        </p:nvSpPr>
        <p:spPr>
          <a:xfrm>
            <a:off x="2184400" y="5397500"/>
            <a:ext cx="7823200" cy="127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ullet 1"/>
          <p:cNvSpPr/>
          <p:nvPr/>
        </p:nvSpPr>
        <p:spPr>
          <a:xfrm>
            <a:off x="2197100" y="55943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ine 1"/>
          <p:cNvSpPr txBox="1"/>
          <p:nvPr/>
        </p:nvSpPr>
        <p:spPr>
          <a:xfrm>
            <a:off x="2362200" y="5524500"/>
            <a:ext cx="7556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BF6EE"/>
                </a:solidFill>
                <a:latin typeface="DM Sans"/>
              </a:rPr>
              <a:t>mylowcostauto.com</a:t>
            </a:r>
          </a:p>
        </p:txBody>
      </p:sp>
      <p:sp>
        <p:nvSpPr>
          <p:cNvPr id="8" name="Bullet 2"/>
          <p:cNvSpPr/>
          <p:nvPr/>
        </p:nvSpPr>
        <p:spPr>
          <a:xfrm>
            <a:off x="2197100" y="58991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ine 2"/>
          <p:cNvSpPr txBox="1"/>
          <p:nvPr/>
        </p:nvSpPr>
        <p:spPr>
          <a:xfrm>
            <a:off x="2362200" y="5829300"/>
            <a:ext cx="7556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BF6EE"/>
                </a:solidFill>
                <a:latin typeface="DM Sans"/>
              </a:rPr>
              <a:t>1-866-602-8861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Program card — Driving Clean Assistance Program">
    <p:spTree>
      <p:nvGrpSpPr>
        <p:cNvPr id="1" name=""/>
        <p:cNvGrpSpPr/>
        <p:nvPr/>
      </p:nvGrpSpPr>
      <p:grpSpPr/>
      <p:sp>
        <p:nvSpPr>
          <p:cNvPr id="2" name="Card panel"/>
          <p:cNvSpPr/>
          <p:nvPr/>
        </p:nvSpPr>
        <p:spPr>
          <a:xfrm>
            <a:off x="1905000" y="4711700"/>
            <a:ext cx="8382000" cy="1638300"/>
          </a:xfrm>
          <a:prstGeom prst="roundRect">
            <a:avLst>
              <a:gd name="adj" fmla="val 5426"/>
            </a:avLst>
          </a:prstGeom>
          <a:solidFill>
            <a:srgbClr val="4A3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er accent"/>
          <p:cNvSpPr/>
          <p:nvPr/>
        </p:nvSpPr>
        <p:spPr>
          <a:xfrm>
            <a:off x="1905000" y="4711700"/>
            <a:ext cx="50800" cy="16383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rogram name"/>
          <p:cNvSpPr txBox="1"/>
          <p:nvPr/>
        </p:nvSpPr>
        <p:spPr>
          <a:xfrm>
            <a:off x="2184400" y="4876800"/>
            <a:ext cx="7823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Fraunces"/>
              </a:rPr>
              <a:t>Driving Clean Assistance Program</a:t>
            </a:r>
          </a:p>
        </p:txBody>
      </p:sp>
      <p:sp>
        <p:nvSpPr>
          <p:cNvPr id="5" name="Rule"/>
          <p:cNvSpPr/>
          <p:nvPr/>
        </p:nvSpPr>
        <p:spPr>
          <a:xfrm>
            <a:off x="2184400" y="5257800"/>
            <a:ext cx="7823200" cy="127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ullet 1"/>
          <p:cNvSpPr/>
          <p:nvPr/>
        </p:nvSpPr>
        <p:spPr>
          <a:xfrm>
            <a:off x="2197100" y="54546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ine 1"/>
          <p:cNvSpPr txBox="1"/>
          <p:nvPr/>
        </p:nvSpPr>
        <p:spPr>
          <a:xfrm>
            <a:off x="2362200" y="5384800"/>
            <a:ext cx="7556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BF6EE"/>
                </a:solidFill>
                <a:latin typeface="DM Sans"/>
              </a:rPr>
              <a:t>drivingcleanca.org</a:t>
            </a:r>
          </a:p>
        </p:txBody>
      </p:sp>
      <p:sp>
        <p:nvSpPr>
          <p:cNvPr id="8" name="Bullet 2"/>
          <p:cNvSpPr/>
          <p:nvPr/>
        </p:nvSpPr>
        <p:spPr>
          <a:xfrm>
            <a:off x="2197100" y="57594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ine 2 label"/>
          <p:cNvSpPr txBox="1"/>
          <p:nvPr/>
        </p:nvSpPr>
        <p:spPr>
          <a:xfrm>
            <a:off x="2362200" y="5689600"/>
            <a:ext cx="7556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4A03C"/>
                </a:solidFill>
                <a:latin typeface="DM Sans"/>
              </a:rPr>
              <a:t>PG&amp;E used-EV rebate — income-qualified, $4,000</a:t>
            </a:r>
          </a:p>
        </p:txBody>
      </p:sp>
      <p:sp>
        <p:nvSpPr>
          <p:cNvPr id="10" name="Line 2 detail"/>
          <p:cNvSpPr txBox="1"/>
          <p:nvPr/>
        </p:nvSpPr>
        <p:spPr>
          <a:xfrm>
            <a:off x="2362200" y="5892800"/>
            <a:ext cx="7556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FBF6EE"/>
                </a:solidFill>
                <a:latin typeface="DM Sans"/>
              </a:rPr>
              <a:t>evrebates.pge.com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Program card — NID Low Income Rate Assistance">
    <p:spTree>
      <p:nvGrpSpPr>
        <p:cNvPr id="1" name=""/>
        <p:cNvGrpSpPr/>
        <p:nvPr/>
      </p:nvGrpSpPr>
      <p:grpSpPr/>
      <p:sp>
        <p:nvSpPr>
          <p:cNvPr id="2" name="Card panel"/>
          <p:cNvSpPr/>
          <p:nvPr/>
        </p:nvSpPr>
        <p:spPr>
          <a:xfrm>
            <a:off x="1905000" y="5156200"/>
            <a:ext cx="8382000" cy="1193800"/>
          </a:xfrm>
          <a:prstGeom prst="roundRect">
            <a:avLst>
              <a:gd name="adj" fmla="val 7446"/>
            </a:avLst>
          </a:prstGeom>
          <a:solidFill>
            <a:srgbClr val="4A3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er accent"/>
          <p:cNvSpPr/>
          <p:nvPr/>
        </p:nvSpPr>
        <p:spPr>
          <a:xfrm>
            <a:off x="1905000" y="5156200"/>
            <a:ext cx="50800" cy="11938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rogram name"/>
          <p:cNvSpPr txBox="1"/>
          <p:nvPr/>
        </p:nvSpPr>
        <p:spPr>
          <a:xfrm>
            <a:off x="2184400" y="5321300"/>
            <a:ext cx="7823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Fraunces"/>
              </a:rPr>
              <a:t>NID Low Income Rate Assistance</a:t>
            </a:r>
          </a:p>
        </p:txBody>
      </p:sp>
      <p:sp>
        <p:nvSpPr>
          <p:cNvPr id="5" name="Rule"/>
          <p:cNvSpPr/>
          <p:nvPr/>
        </p:nvSpPr>
        <p:spPr>
          <a:xfrm>
            <a:off x="2184400" y="5702300"/>
            <a:ext cx="7823200" cy="127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ullet 1"/>
          <p:cNvSpPr/>
          <p:nvPr/>
        </p:nvSpPr>
        <p:spPr>
          <a:xfrm>
            <a:off x="2197100" y="58991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ine 1"/>
          <p:cNvSpPr txBox="1"/>
          <p:nvPr/>
        </p:nvSpPr>
        <p:spPr>
          <a:xfrm>
            <a:off x="2362200" y="5829300"/>
            <a:ext cx="7556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BF6EE"/>
                </a:solidFill>
                <a:latin typeface="DM Sans"/>
              </a:rPr>
              <a:t>530-273-6185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Program card — Getting around western Nevada County">
    <p:spTree>
      <p:nvGrpSpPr>
        <p:cNvPr id="1" name=""/>
        <p:cNvGrpSpPr/>
        <p:nvPr/>
      </p:nvGrpSpPr>
      <p:grpSpPr/>
      <p:sp>
        <p:nvSpPr>
          <p:cNvPr id="2" name="Card panel"/>
          <p:cNvSpPr/>
          <p:nvPr/>
        </p:nvSpPr>
        <p:spPr>
          <a:xfrm>
            <a:off x="1905000" y="4572000"/>
            <a:ext cx="8382000" cy="1778000"/>
          </a:xfrm>
          <a:prstGeom prst="roundRect">
            <a:avLst>
              <a:gd name="adj" fmla="val 5000"/>
            </a:avLst>
          </a:prstGeom>
          <a:solidFill>
            <a:srgbClr val="4A3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er accent"/>
          <p:cNvSpPr/>
          <p:nvPr/>
        </p:nvSpPr>
        <p:spPr>
          <a:xfrm>
            <a:off x="1905000" y="4572000"/>
            <a:ext cx="50800" cy="17780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rogram name"/>
          <p:cNvSpPr txBox="1"/>
          <p:nvPr/>
        </p:nvSpPr>
        <p:spPr>
          <a:xfrm>
            <a:off x="2184400" y="4737100"/>
            <a:ext cx="7823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Fraunces"/>
              </a:rPr>
              <a:t>Getting around western Nevada County</a:t>
            </a:r>
          </a:p>
        </p:txBody>
      </p:sp>
      <p:sp>
        <p:nvSpPr>
          <p:cNvPr id="5" name="Rule"/>
          <p:cNvSpPr/>
          <p:nvPr/>
        </p:nvSpPr>
        <p:spPr>
          <a:xfrm>
            <a:off x="2184400" y="5118100"/>
            <a:ext cx="7823200" cy="127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ullet 1"/>
          <p:cNvSpPr/>
          <p:nvPr/>
        </p:nvSpPr>
        <p:spPr>
          <a:xfrm>
            <a:off x="2197100" y="53149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ine 1 label"/>
          <p:cNvSpPr txBox="1"/>
          <p:nvPr/>
        </p:nvSpPr>
        <p:spPr>
          <a:xfrm>
            <a:off x="2362200" y="5245100"/>
            <a:ext cx="7556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4A03C"/>
                </a:solidFill>
                <a:latin typeface="DM Sans"/>
              </a:rPr>
              <a:t>Nevada County Connects</a:t>
            </a:r>
          </a:p>
        </p:txBody>
      </p:sp>
      <p:sp>
        <p:nvSpPr>
          <p:cNvPr id="8" name="Line 1 detail"/>
          <p:cNvSpPr txBox="1"/>
          <p:nvPr/>
        </p:nvSpPr>
        <p:spPr>
          <a:xfrm>
            <a:off x="2362200" y="5448300"/>
            <a:ext cx="7556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FBF6EE"/>
                </a:solidFill>
                <a:latin typeface="DM Sans"/>
              </a:rPr>
              <a:t>530-477-0103</a:t>
            </a:r>
          </a:p>
        </p:txBody>
      </p:sp>
      <p:sp>
        <p:nvSpPr>
          <p:cNvPr id="9" name="Bullet 2"/>
          <p:cNvSpPr/>
          <p:nvPr/>
        </p:nvSpPr>
        <p:spPr>
          <a:xfrm>
            <a:off x="2197100" y="57594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ine 2 label"/>
          <p:cNvSpPr txBox="1"/>
          <p:nvPr/>
        </p:nvSpPr>
        <p:spPr>
          <a:xfrm>
            <a:off x="2362200" y="5689600"/>
            <a:ext cx="7556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4A03C"/>
                </a:solidFill>
                <a:latin typeface="DM Sans"/>
              </a:rPr>
              <a:t>Nevada County Now — door-to-door</a:t>
            </a:r>
          </a:p>
        </p:txBody>
      </p:sp>
      <p:sp>
        <p:nvSpPr>
          <p:cNvPr id="11" name="Line 2 detail"/>
          <p:cNvSpPr txBox="1"/>
          <p:nvPr/>
        </p:nvSpPr>
        <p:spPr>
          <a:xfrm>
            <a:off x="2362200" y="5892800"/>
            <a:ext cx="7556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FBF6EE"/>
                </a:solidFill>
                <a:latin typeface="DM Sans"/>
              </a:rPr>
              <a:t>530-271-7433  ·  book the day before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Program card — Truckee + medical rides">
    <p:spTree>
      <p:nvGrpSpPr>
        <p:cNvPr id="1" name=""/>
        <p:cNvGrpSpPr/>
        <p:nvPr/>
      </p:nvGrpSpPr>
      <p:grpSpPr/>
      <p:sp>
        <p:nvSpPr>
          <p:cNvPr id="2" name="Card panel"/>
          <p:cNvSpPr/>
          <p:nvPr/>
        </p:nvSpPr>
        <p:spPr>
          <a:xfrm>
            <a:off x="1905000" y="4572000"/>
            <a:ext cx="8382000" cy="1778000"/>
          </a:xfrm>
          <a:prstGeom prst="roundRect">
            <a:avLst>
              <a:gd name="adj" fmla="val 5000"/>
            </a:avLst>
          </a:prstGeom>
          <a:solidFill>
            <a:srgbClr val="4A3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er accent"/>
          <p:cNvSpPr/>
          <p:nvPr/>
        </p:nvSpPr>
        <p:spPr>
          <a:xfrm>
            <a:off x="1905000" y="4572000"/>
            <a:ext cx="50800" cy="17780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rogram name"/>
          <p:cNvSpPr txBox="1"/>
          <p:nvPr/>
        </p:nvSpPr>
        <p:spPr>
          <a:xfrm>
            <a:off x="2184400" y="4737100"/>
            <a:ext cx="7823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Fraunces"/>
              </a:rPr>
              <a:t>Truckee + medical rides</a:t>
            </a:r>
          </a:p>
        </p:txBody>
      </p:sp>
      <p:sp>
        <p:nvSpPr>
          <p:cNvPr id="5" name="Rule"/>
          <p:cNvSpPr/>
          <p:nvPr/>
        </p:nvSpPr>
        <p:spPr>
          <a:xfrm>
            <a:off x="2184400" y="5118100"/>
            <a:ext cx="7823200" cy="127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ullet 1"/>
          <p:cNvSpPr/>
          <p:nvPr/>
        </p:nvSpPr>
        <p:spPr>
          <a:xfrm>
            <a:off x="2197100" y="53149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ine 1 label"/>
          <p:cNvSpPr txBox="1"/>
          <p:nvPr/>
        </p:nvSpPr>
        <p:spPr>
          <a:xfrm>
            <a:off x="2362200" y="5245100"/>
            <a:ext cx="7556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4A03C"/>
                </a:solidFill>
                <a:latin typeface="DM Sans"/>
              </a:rPr>
              <a:t>TART + TART Connect (Truckee)</a:t>
            </a:r>
          </a:p>
        </p:txBody>
      </p:sp>
      <p:sp>
        <p:nvSpPr>
          <p:cNvPr id="8" name="Line 1 detail"/>
          <p:cNvSpPr txBox="1"/>
          <p:nvPr/>
        </p:nvSpPr>
        <p:spPr>
          <a:xfrm>
            <a:off x="2362200" y="5448300"/>
            <a:ext cx="7556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FBF6EE"/>
                </a:solidFill>
                <a:latin typeface="DM Sans"/>
              </a:rPr>
              <a:t>Free to ride</a:t>
            </a:r>
          </a:p>
        </p:txBody>
      </p:sp>
      <p:sp>
        <p:nvSpPr>
          <p:cNvPr id="9" name="Bullet 2"/>
          <p:cNvSpPr/>
          <p:nvPr/>
        </p:nvSpPr>
        <p:spPr>
          <a:xfrm>
            <a:off x="2197100" y="57594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ine 2 label"/>
          <p:cNvSpPr txBox="1"/>
          <p:nvPr/>
        </p:nvSpPr>
        <p:spPr>
          <a:xfrm>
            <a:off x="2362200" y="5689600"/>
            <a:ext cx="7556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4A03C"/>
                </a:solidFill>
                <a:latin typeface="DM Sans"/>
              </a:rPr>
              <a:t>Medi-Cal rides — Partnership HealthPlan</a:t>
            </a:r>
          </a:p>
        </p:txBody>
      </p:sp>
      <p:sp>
        <p:nvSpPr>
          <p:cNvPr id="11" name="Line 2 detail"/>
          <p:cNvSpPr txBox="1"/>
          <p:nvPr/>
        </p:nvSpPr>
        <p:spPr>
          <a:xfrm>
            <a:off x="2362200" y="5892800"/>
            <a:ext cx="7556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FBF6EE"/>
                </a:solidFill>
                <a:latin typeface="DM Sans"/>
              </a:rPr>
              <a:t>866-828-2303  ·  book 5+ days ahead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Outro end card">
    <p:bg>
      <p:bgPr>
        <a:solidFill>
          <a:srgbClr val="3A2A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un logo" descr="techempower-s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1000" y="1524000"/>
            <a:ext cx="1270000" cy="1270000"/>
          </a:xfrm>
          <a:prstGeom prst="rect">
            <a:avLst/>
          </a:prstGeom>
        </p:spPr>
      </p:pic>
      <p:sp>
        <p:nvSpPr>
          <p:cNvPr id="3" name="Show title"/>
          <p:cNvSpPr txBox="1"/>
          <p:nvPr/>
        </p:nvSpPr>
        <p:spPr>
          <a:xfrm>
            <a:off x="1016000" y="2933700"/>
            <a:ext cx="10160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1" i="0">
                <a:solidFill>
                  <a:srgbClr val="FBF6EE"/>
                </a:solidFill>
                <a:latin typeface="Fraunces"/>
              </a:rPr>
              <a:t>Wait, I Qualify?!</a:t>
            </a:r>
          </a:p>
        </p:txBody>
      </p:sp>
      <p:sp>
        <p:nvSpPr>
          <p:cNvPr id="4" name="Primary URL"/>
          <p:cNvSpPr txBox="1"/>
          <p:nvPr/>
        </p:nvSpPr>
        <p:spPr>
          <a:xfrm>
            <a:off x="1016000" y="3530600"/>
            <a:ext cx="10160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D4A03C"/>
                </a:solidFill>
                <a:latin typeface="DM Sans"/>
              </a:rPr>
              <a:t>techempower.org</a:t>
            </a:r>
          </a:p>
        </p:txBody>
      </p:sp>
      <p:sp>
        <p:nvSpPr>
          <p:cNvPr id="5" name="Teal rule"/>
          <p:cNvSpPr/>
          <p:nvPr/>
        </p:nvSpPr>
        <p:spPr>
          <a:xfrm>
            <a:off x="5461000" y="3924300"/>
            <a:ext cx="1270000" cy="19050"/>
          </a:xfrm>
          <a:prstGeom prst="rect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ine 2"/>
          <p:cNvSpPr txBox="1"/>
          <p:nvPr/>
        </p:nvSpPr>
        <p:spPr>
          <a:xfrm>
            <a:off x="1016000" y="4064000"/>
            <a:ext cx="1016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FBF6EE"/>
                </a:solidFill>
                <a:latin typeface="DM Sans"/>
              </a:rPr>
              <a:t>Dial 2-1-1   |   findhelp.org</a:t>
            </a:r>
          </a:p>
        </p:txBody>
      </p:sp>
      <p:sp>
        <p:nvSpPr>
          <p:cNvPr id="7" name="Tagline"/>
          <p:cNvSpPr txBox="1"/>
          <p:nvPr/>
        </p:nvSpPr>
        <p:spPr>
          <a:xfrm>
            <a:off x="1016000" y="6172200"/>
            <a:ext cx="1016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FBF6EE"/>
                </a:solidFill>
                <a:latin typeface="DM Sans"/>
              </a:rPr>
              <a:t>Free technology resources for low-income individuals and families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