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title card. Edit the episode line. Holds under the jingle after the sun-logo pre-roll (see show/PIPELINE.md, stage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URL strap for [POST: SCREENCAST ...] segments -- sits bottom-right over the screen capture. Transparent-background PNG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Cream card, lower right. Used in Ep1 for the book mention; reuse for any single resource callout. Transparent-background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resources card -- every episode (series invariant: 211, findhelp.org, techempower.org). Transparent-background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Outro end card -- plays under the closing jingle. Series invariant: 211 + findhelp.org + techempower.org always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Full-frame chart card. Replace the placeholder with the chart image and credit the source (show/PIPELINE.md series assets).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tro title card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016000"/>
            <a:ext cx="1651000" cy="1651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88925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2C1F1A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1651000" y="36830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5A4E42"/>
                </a:solidFill>
                <a:latin typeface="DM Sans"/>
              </a:rPr>
              <a:t>Free Technology Resources for Everyone</a:t>
            </a:r>
          </a:p>
        </p:txBody>
      </p:sp>
      <p:sp>
        <p:nvSpPr>
          <p:cNvPr id="5" name="Teal rule"/>
          <p:cNvSpPr/>
          <p:nvPr/>
        </p:nvSpPr>
        <p:spPr>
          <a:xfrm>
            <a:off x="5334000" y="4089400"/>
            <a:ext cx="1524000" cy="2540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pisode line"/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766E"/>
                </a:solidFill>
                <a:latin typeface="DM Sans"/>
              </a:rPr>
              <a:t>Episode 1   ·   Category goes here</a:t>
            </a:r>
          </a:p>
        </p:txBody>
      </p:sp>
      <p:sp>
        <p:nvSpPr>
          <p:cNvPr id="7" name="Footer bar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URL"/>
          <p:cNvSpPr txBox="1"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Jeff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Jeff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TechEMPOWER 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Shawna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Shawna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Co-host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Guest Name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937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368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Guest Name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Title, 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(simple) — Program name — phone + website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Program name — phone + website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Apply: website.example.org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1-800-555-0100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Or dial 2-1-1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(address + hours) — Program name — address + hour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241800"/>
            <a:ext cx="8382000" cy="2108200"/>
          </a:xfrm>
          <a:prstGeom prst="roundRect">
            <a:avLst>
              <a:gd name="adj" fmla="val 4216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241800"/>
            <a:ext cx="50800" cy="2108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4069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Program name — address + hours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7879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9847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49149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123 Main St, Grass Valley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530-555-0100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Mon · Wed · Fri, 10 to 1</a:t>
            </a:r>
          </a:p>
        </p:txBody>
      </p:sp>
      <p:sp>
        <p:nvSpPr>
          <p:cNvPr id="12" name="Bullet 4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4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Plus Saturdays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(multi-provider) — Several providers on one card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3822700"/>
            <a:ext cx="8382000" cy="2527300"/>
          </a:xfrm>
          <a:prstGeom prst="roundRect">
            <a:avLst>
              <a:gd name="adj" fmla="val 3517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3822700"/>
            <a:ext cx="50800" cy="25273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39878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Several providers on one card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3688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5656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44958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Provider one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46990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$14.95 a month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010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49403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Provider two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1435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$30 or less a month</a:t>
            </a:r>
          </a:p>
        </p:txBody>
      </p:sp>
      <p:sp>
        <p:nvSpPr>
          <p:cNvPr id="12" name="Bullet 3"/>
          <p:cNvSpPr/>
          <p:nvPr/>
        </p:nvSpPr>
        <p:spPr>
          <a:xfrm>
            <a:off x="2197100" y="54546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3 label"/>
          <p:cNvSpPr txBox="1"/>
          <p:nvPr/>
        </p:nvSpPr>
        <p:spPr>
          <a:xfrm>
            <a:off x="2362200" y="53848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Provider three</a:t>
            </a:r>
          </a:p>
        </p:txBody>
      </p:sp>
      <p:sp>
        <p:nvSpPr>
          <p:cNvPr id="14" name="Line 3 detail"/>
          <p:cNvSpPr txBox="1"/>
          <p:nvPr/>
        </p:nvSpPr>
        <p:spPr>
          <a:xfrm>
            <a:off x="2362200" y="55880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530-555-0100  ·  book the day before</a:t>
            </a:r>
          </a:p>
        </p:txBody>
      </p:sp>
      <p:sp>
        <p:nvSpPr>
          <p:cNvPr id="15" name="Bullet 4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ne 4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Check your address with each provider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RL strap (screencast)">
    <p:spTree>
      <p:nvGrpSpPr>
        <p:cNvPr id="1" name=""/>
        <p:cNvGrpSpPr/>
        <p:nvPr/>
      </p:nvGrpSpPr>
      <p:grpSpPr/>
      <p:sp>
        <p:nvSpPr>
          <p:cNvPr id="2" name="Strap"/>
          <p:cNvSpPr/>
          <p:nvPr/>
        </p:nvSpPr>
        <p:spPr>
          <a:xfrm>
            <a:off x="7620000" y="6070600"/>
            <a:ext cx="4191000" cy="431800"/>
          </a:xfrm>
          <a:prstGeom prst="roundRect">
            <a:avLst>
              <a:gd name="adj" fmla="val 50000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dot"/>
          <p:cNvSpPr/>
          <p:nvPr/>
        </p:nvSpPr>
        <p:spPr>
          <a:xfrm>
            <a:off x="7823200" y="6235700"/>
            <a:ext cx="101600" cy="101600"/>
          </a:xfrm>
          <a:prstGeom prst="ellipse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RL"/>
          <p:cNvSpPr txBox="1"/>
          <p:nvPr/>
        </p:nvSpPr>
        <p:spPr>
          <a:xfrm>
            <a:off x="8013700" y="6070600"/>
            <a:ext cx="36195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DM Sans"/>
              </a:rPr>
              <a:t>website.example.org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ook / resource mentioned">
    <p:spTree>
      <p:nvGrpSpPr>
        <p:cNvPr id="1" name=""/>
        <p:cNvGrpSpPr/>
        <p:nvPr/>
      </p:nvGrpSpPr>
      <p:grpSpPr/>
      <p:sp>
        <p:nvSpPr>
          <p:cNvPr id="2" name="Card"/>
          <p:cNvSpPr/>
          <p:nvPr/>
        </p:nvSpPr>
        <p:spPr>
          <a:xfrm>
            <a:off x="8382000" y="4191000"/>
            <a:ext cx="3302000" cy="1778000"/>
          </a:xfrm>
          <a:prstGeom prst="roundRect">
            <a:avLst>
              <a:gd name="adj" fmla="val 3571"/>
            </a:avLst>
          </a:prstGeom>
          <a:solidFill>
            <a:srgbClr val="FDF6EC"/>
          </a:solidFill>
          <a:ln w="12700">
            <a:solidFill>
              <a:srgbClr val="2A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8540750" y="4279900"/>
            <a:ext cx="29845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7F7F"/>
                </a:solidFill>
                <a:latin typeface="DM Sans"/>
              </a:rPr>
              <a:t>BOOK MENTIONED</a:t>
            </a:r>
          </a:p>
        </p:txBody>
      </p:sp>
      <p:sp>
        <p:nvSpPr>
          <p:cNvPr id="4" name="Rule"/>
          <p:cNvSpPr/>
          <p:nvPr/>
        </p:nvSpPr>
        <p:spPr>
          <a:xfrm>
            <a:off x="8540750" y="4489450"/>
            <a:ext cx="2984500" cy="12700"/>
          </a:xfrm>
          <a:prstGeom prst="rect">
            <a:avLst/>
          </a:prstGeom>
          <a:solidFill>
            <a:srgbClr val="D5C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8540750" y="4572000"/>
            <a:ext cx="2984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3828"/>
                </a:solidFill>
                <a:latin typeface="Fraunces"/>
              </a:rPr>
              <a:t>Book Title</a:t>
            </a:r>
          </a:p>
          <a:p>
            <a:pPr algn="l"/>
            <a:r>
              <a:rPr sz="2000" b="1" i="0">
                <a:solidFill>
                  <a:srgbClr val="4A3828"/>
                </a:solidFill>
                <a:latin typeface="Fraunces"/>
              </a:rPr>
              <a:t>Second Line</a:t>
            </a:r>
          </a:p>
        </p:txBody>
      </p:sp>
      <p:sp>
        <p:nvSpPr>
          <p:cNvPr id="6" name="Author"/>
          <p:cNvSpPr txBox="1"/>
          <p:nvPr/>
        </p:nvSpPr>
        <p:spPr>
          <a:xfrm>
            <a:off x="8540750" y="5245100"/>
            <a:ext cx="298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4E42"/>
                </a:solidFill>
                <a:latin typeface="DM Sans"/>
              </a:rPr>
              <a:t>by Author Name</a:t>
            </a:r>
          </a:p>
        </p:txBody>
      </p:sp>
      <p:sp>
        <p:nvSpPr>
          <p:cNvPr id="7" name="Tag"/>
          <p:cNvSpPr txBox="1"/>
          <p:nvPr/>
        </p:nvSpPr>
        <p:spPr>
          <a:xfrm>
            <a:off x="8540750" y="5511800"/>
            <a:ext cx="298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7F7F"/>
                </a:solidFill>
                <a:latin typeface="DM Sans"/>
              </a:rPr>
              <a:t>Free at your local library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ind Help Today">
    <p:spTree>
      <p:nvGrpSpPr>
        <p:cNvPr id="1" name=""/>
        <p:cNvGrpSpPr/>
        <p:nvPr/>
      </p:nvGrpSpPr>
      <p:grpSpPr/>
      <p:sp>
        <p:nvSpPr>
          <p:cNvPr id="2" name="Panel"/>
          <p:cNvSpPr/>
          <p:nvPr/>
        </p:nvSpPr>
        <p:spPr>
          <a:xfrm>
            <a:off x="4064000" y="4318000"/>
            <a:ext cx="4064000" cy="1905000"/>
          </a:xfrm>
          <a:prstGeom prst="roundRect">
            <a:avLst>
              <a:gd name="adj" fmla="val 4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ing"/>
          <p:cNvSpPr txBox="1"/>
          <p:nvPr/>
        </p:nvSpPr>
        <p:spPr>
          <a:xfrm>
            <a:off x="4064000" y="4457700"/>
            <a:ext cx="406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Fraunces"/>
              </a:rPr>
              <a:t>Find Help Today</a:t>
            </a:r>
          </a:p>
        </p:txBody>
      </p:sp>
      <p:sp>
        <p:nvSpPr>
          <p:cNvPr id="4" name="Rule"/>
          <p:cNvSpPr/>
          <p:nvPr/>
        </p:nvSpPr>
        <p:spPr>
          <a:xfrm>
            <a:off x="4445000" y="4838700"/>
            <a:ext cx="33020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ullet 1"/>
          <p:cNvSpPr/>
          <p:nvPr/>
        </p:nvSpPr>
        <p:spPr>
          <a:xfrm>
            <a:off x="4318000" y="50228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1"/>
          <p:cNvSpPr txBox="1"/>
          <p:nvPr/>
        </p:nvSpPr>
        <p:spPr>
          <a:xfrm>
            <a:off x="4483100" y="49657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D4A03C"/>
                </a:solidFill>
                <a:latin typeface="DM Sans"/>
              </a:rPr>
              <a:t>techempower.org</a:t>
            </a:r>
          </a:p>
        </p:txBody>
      </p:sp>
      <p:sp>
        <p:nvSpPr>
          <p:cNvPr id="7" name="Item 1 detail"/>
          <p:cNvSpPr txBox="1"/>
          <p:nvPr/>
        </p:nvSpPr>
        <p:spPr>
          <a:xfrm>
            <a:off x="4483100" y="5156200"/>
            <a:ext cx="317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F6EE"/>
                </a:solidFill>
                <a:latin typeface="DM Sans"/>
              </a:rPr>
              <a:t>Free guides &amp; resources</a:t>
            </a:r>
          </a:p>
        </p:txBody>
      </p:sp>
      <p:sp>
        <p:nvSpPr>
          <p:cNvPr id="8" name="Bullet 2"/>
          <p:cNvSpPr/>
          <p:nvPr/>
        </p:nvSpPr>
        <p:spPr>
          <a:xfrm>
            <a:off x="4318000" y="54292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2"/>
          <p:cNvSpPr txBox="1"/>
          <p:nvPr/>
        </p:nvSpPr>
        <p:spPr>
          <a:xfrm>
            <a:off x="4483100" y="53721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D4A03C"/>
                </a:solidFill>
                <a:latin typeface="DM Sans"/>
              </a:rPr>
              <a:t>Dial 2-1-1</a:t>
            </a:r>
          </a:p>
        </p:txBody>
      </p:sp>
      <p:sp>
        <p:nvSpPr>
          <p:cNvPr id="10" name="Item 2 detail"/>
          <p:cNvSpPr txBox="1"/>
          <p:nvPr/>
        </p:nvSpPr>
        <p:spPr>
          <a:xfrm>
            <a:off x="4483100" y="5562600"/>
            <a:ext cx="317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F6EE"/>
                </a:solidFill>
                <a:latin typeface="DM Sans"/>
              </a:rPr>
              <a:t>Local assistance near you</a:t>
            </a:r>
          </a:p>
        </p:txBody>
      </p:sp>
      <p:sp>
        <p:nvSpPr>
          <p:cNvPr id="11" name="Bullet 3"/>
          <p:cNvSpPr/>
          <p:nvPr/>
        </p:nvSpPr>
        <p:spPr>
          <a:xfrm>
            <a:off x="4318000" y="58356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em 3"/>
          <p:cNvSpPr txBox="1"/>
          <p:nvPr/>
        </p:nvSpPr>
        <p:spPr>
          <a:xfrm>
            <a:off x="4483100" y="57785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D4A03C"/>
                </a:solidFill>
                <a:latin typeface="DM Sans"/>
              </a:rPr>
              <a:t>findhelp.org</a:t>
            </a:r>
          </a:p>
        </p:txBody>
      </p:sp>
      <p:sp>
        <p:nvSpPr>
          <p:cNvPr id="13" name="Item 3 detail"/>
          <p:cNvSpPr txBox="1"/>
          <p:nvPr/>
        </p:nvSpPr>
        <p:spPr>
          <a:xfrm>
            <a:off x="4483100" y="5969000"/>
            <a:ext cx="317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F6EE"/>
                </a:solidFill>
                <a:latin typeface="DM Sans"/>
              </a:rPr>
              <a:t>Search programs by ZIP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utro end card">
    <p:bg>
      <p:bgPr>
        <a:solidFill>
          <a:srgbClr val="3A2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524000"/>
            <a:ext cx="1270000" cy="1270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933700"/>
            <a:ext cx="1016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BF6EE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Primary URL"/>
          <p:cNvSpPr txBox="1"/>
          <p:nvPr/>
        </p:nvSpPr>
        <p:spPr>
          <a:xfrm>
            <a:off x="1016000" y="3530600"/>
            <a:ext cx="1016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4A03C"/>
                </a:solidFill>
                <a:latin typeface="DM Sans"/>
              </a:rPr>
              <a:t>techempower.org</a:t>
            </a:r>
          </a:p>
        </p:txBody>
      </p:sp>
      <p:sp>
        <p:nvSpPr>
          <p:cNvPr id="5" name="Teal rule"/>
          <p:cNvSpPr/>
          <p:nvPr/>
        </p:nvSpPr>
        <p:spPr>
          <a:xfrm>
            <a:off x="5461000" y="3924300"/>
            <a:ext cx="1270000" cy="1905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 2"/>
          <p:cNvSpPr txBox="1"/>
          <p:nvPr/>
        </p:nvSpPr>
        <p:spPr>
          <a:xfrm>
            <a:off x="1016000" y="40640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FBF6EE"/>
                </a:solidFill>
                <a:latin typeface="DM Sans"/>
              </a:rPr>
              <a:t>Dial 2-1-1   |   findhelp.org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1016000" y="61722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FBF6EE"/>
                </a:solidFill>
                <a:latin typeface="DM Sans"/>
              </a:rPr>
              <a:t>Free technology resources for low-income individuals and families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art frame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rt title"/>
          <p:cNvSpPr txBox="1"/>
          <p:nvPr/>
        </p:nvSpPr>
        <p:spPr>
          <a:xfrm>
            <a:off x="635000" y="3556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2C1F1A"/>
                </a:solidFill>
                <a:latin typeface="Fraunces"/>
              </a:rPr>
              <a:t>Chart title goes here</a:t>
            </a:r>
          </a:p>
        </p:txBody>
      </p:sp>
      <p:sp>
        <p:nvSpPr>
          <p:cNvPr id="3" name="Teal rule"/>
          <p:cNvSpPr/>
          <p:nvPr/>
        </p:nvSpPr>
        <p:spPr>
          <a:xfrm>
            <a:off x="635000" y="863600"/>
            <a:ext cx="762000" cy="2540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304800"/>
            <a:ext cx="508000" cy="508000"/>
          </a:xfrm>
          <a:prstGeom prst="rect">
            <a:avLst/>
          </a:prstGeom>
        </p:spPr>
      </p:pic>
      <p:sp>
        <p:nvSpPr>
          <p:cNvPr id="5" name="Chart image placeholder"/>
          <p:cNvSpPr/>
          <p:nvPr/>
        </p:nvSpPr>
        <p:spPr>
          <a:xfrm>
            <a:off x="635000" y="1066800"/>
            <a:ext cx="10922000" cy="5080000"/>
          </a:xfrm>
          <a:prstGeom prst="rect">
            <a:avLst/>
          </a:prstGeom>
          <a:solidFill>
            <a:srgbClr val="EDE7DD"/>
          </a:solidFill>
          <a:ln w="12700">
            <a:solidFill>
              <a:srgbClr val="D5CD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ceholder label"/>
          <p:cNvSpPr txBox="1"/>
          <p:nvPr/>
        </p:nvSpPr>
        <p:spPr>
          <a:xfrm>
            <a:off x="635000" y="1066800"/>
            <a:ext cx="1092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Drop the chart image here  (1720 × 800)</a:t>
            </a:r>
          </a:p>
        </p:txBody>
      </p:sp>
      <p:sp>
        <p:nvSpPr>
          <p:cNvPr id="7" name="Source credit"/>
          <p:cNvSpPr txBox="1"/>
          <p:nvPr/>
        </p:nvSpPr>
        <p:spPr>
          <a:xfrm>
            <a:off x="635000" y="6299200"/>
            <a:ext cx="1092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A7A6C"/>
                </a:solidFill>
                <a:latin typeface="DM Sans"/>
              </a:rPr>
              <a:t>Source: name the primary source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