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title card. Edit the episode line. Holds under the jingle after the sun-logo pre-roll (see show/PIPELINE.md, stage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Lower third overlay. Export this page as PNG with 'Transparent background' ticked so it sits over the interview footage.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Conservation cost-share (NRCS), Grass Valley: 113 Presley Way, Suite 1 -- Valerie Bullard 530-798-5527 -- Farm microloans (FSA): find your farm-loan office at farmers.gov/service-center-locator]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Sierra Harvest Farm Institute: sierraharvest.org / 530-265-2343 -- UCCE Foothill Farming: 530-273-4563 (office open Tue + Thu) -- Nevada County Dept of Agriculture: 530-470-2690]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card overlay. Export as PNG with 'Transparent background' ticked. Numbers/URLs are from the script cue below, which carries every fact-check fix; if the audio disagrees, show/epN/fact-check-full-report.json wins -- flag it to JP.</a:t>
            </a:r>
          </a:p>
          <a:p/>
          <a:p>
            <a:r>
              <a:t>Source cue:</a:t>
            </a:r>
          </a:p>
          <a:p>
            <a:r>
              <a:t>[POST: PROGRAM CARD -- FREED (free medical equipment): 530-477-3333 -- Legal Services of Northern California: 530-823-7560 -- evening intake 866-815-5990]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Outro end card -- plays under the closing jingle. Series invariant: 211 + findhelp.org + techempower.org always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Intro title card"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1016000"/>
            <a:ext cx="1651000" cy="1651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88925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200" b="1" i="0">
                <a:solidFill>
                  <a:srgbClr val="2C1F1A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Tagline"/>
          <p:cNvSpPr txBox="1"/>
          <p:nvPr/>
        </p:nvSpPr>
        <p:spPr>
          <a:xfrm>
            <a:off x="1651000" y="3683000"/>
            <a:ext cx="889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0" i="0">
                <a:solidFill>
                  <a:srgbClr val="5A4E42"/>
                </a:solidFill>
                <a:latin typeface="DM Sans"/>
              </a:rPr>
              <a:t>Free Technology Resources for Everyone</a:t>
            </a:r>
          </a:p>
        </p:txBody>
      </p:sp>
      <p:sp>
        <p:nvSpPr>
          <p:cNvPr id="5" name="Teal rule"/>
          <p:cNvSpPr/>
          <p:nvPr/>
        </p:nvSpPr>
        <p:spPr>
          <a:xfrm>
            <a:off x="5334000" y="4089400"/>
            <a:ext cx="1524000" cy="2540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pisode line"/>
          <p:cNvSpPr txBox="1"/>
          <p:nvPr/>
        </p:nvSpPr>
        <p:spPr>
          <a:xfrm>
            <a:off x="1016000" y="4241800"/>
            <a:ext cx="1016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0F766E"/>
                </a:solidFill>
                <a:latin typeface="DM Sans"/>
              </a:rPr>
              <a:t>Episode 5   ·   Nonprofits + Farmers</a:t>
            </a:r>
          </a:p>
        </p:txBody>
      </p:sp>
      <p:sp>
        <p:nvSpPr>
          <p:cNvPr id="7" name="Footer bar"/>
          <p:cNvSpPr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 URL"/>
          <p:cNvSpPr txBox="1"/>
          <p:nvPr/>
        </p:nvSpPr>
        <p:spPr>
          <a:xfrm>
            <a:off x="0" y="6451600"/>
            <a:ext cx="12192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</a:rPr>
              <a:t>techempower.org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Jeff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Jeff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TechEMPOWER Founder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Shawna Hein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048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Shawna Hein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2794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Co-host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ower third — Lindsey Pratt">
    <p:spTree>
      <p:nvGrpSpPr>
        <p:cNvPr id="1" name=""/>
        <p:cNvGrpSpPr/>
        <p:nvPr/>
      </p:nvGrpSpPr>
      <p:grpSpPr/>
      <p:sp>
        <p:nvSpPr>
          <p:cNvPr id="2" name="Lower third box"/>
          <p:cNvSpPr/>
          <p:nvPr/>
        </p:nvSpPr>
        <p:spPr>
          <a:xfrm>
            <a:off x="381000" y="5842000"/>
            <a:ext cx="3937000" cy="457200"/>
          </a:xfrm>
          <a:prstGeom prst="roundRect">
            <a:avLst>
              <a:gd name="adj" fmla="val 5555"/>
            </a:avLst>
          </a:prstGeom>
          <a:solidFill>
            <a:srgbClr val="1D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381000" y="5842000"/>
            <a:ext cx="38100" cy="4572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ame"/>
          <p:cNvSpPr txBox="1"/>
          <p:nvPr/>
        </p:nvSpPr>
        <p:spPr>
          <a:xfrm>
            <a:off x="520700" y="5861050"/>
            <a:ext cx="368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Fraunces"/>
              </a:rPr>
              <a:t>Lindsey Pratt</a:t>
            </a:r>
          </a:p>
        </p:txBody>
      </p:sp>
      <p:sp>
        <p:nvSpPr>
          <p:cNvPr id="5" name="Role"/>
          <p:cNvSpPr txBox="1"/>
          <p:nvPr/>
        </p:nvSpPr>
        <p:spPr>
          <a:xfrm>
            <a:off x="520700" y="6102350"/>
            <a:ext cx="3683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E2E5E2"/>
                </a:solidFill>
                <a:latin typeface="DM Sans"/>
              </a:rPr>
              <a:t>Farm Institute Director, Sierra Harvest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Help for small farms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Help for small farms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Conservation cost-share (NRCS), Grass Valley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113 Presley Way, Suite 1  ·  Valerie Bullard 530-798-5527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Farm microloans (FSA)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farmers.gov/service-center-locator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Growing locally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127500"/>
            <a:ext cx="8382000" cy="2222500"/>
          </a:xfrm>
          <a:prstGeom prst="roundRect">
            <a:avLst>
              <a:gd name="adj" fmla="val 4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127500"/>
            <a:ext cx="50800" cy="22225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2926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Growing locally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46736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4870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4800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Sierra Harvest Farm Institute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003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sierraharvest.org  ·  530-265-2343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UCCE Foothill Farming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530-273-4563  ·  office open Tue + Thu</a:t>
            </a:r>
          </a:p>
        </p:txBody>
      </p:sp>
      <p:sp>
        <p:nvSpPr>
          <p:cNvPr id="12" name="Bullet 3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ne 3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Nevada County Dept of Agriculture</a:t>
            </a:r>
          </a:p>
        </p:txBody>
      </p:sp>
      <p:sp>
        <p:nvSpPr>
          <p:cNvPr id="14" name="Line 3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530-470-2690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rogram card — FREED + legal help">
    <p:spTree>
      <p:nvGrpSpPr>
        <p:cNvPr id="1" name=""/>
        <p:cNvGrpSpPr/>
        <p:nvPr/>
      </p:nvGrpSpPr>
      <p:grpSpPr/>
      <p:sp>
        <p:nvSpPr>
          <p:cNvPr id="2" name="Card panel"/>
          <p:cNvSpPr/>
          <p:nvPr/>
        </p:nvSpPr>
        <p:spPr>
          <a:xfrm>
            <a:off x="1905000" y="4572000"/>
            <a:ext cx="8382000" cy="1778000"/>
          </a:xfrm>
          <a:prstGeom prst="roundRect">
            <a:avLst>
              <a:gd name="adj" fmla="val 5000"/>
            </a:avLst>
          </a:prstGeom>
          <a:solidFill>
            <a:srgbClr val="4A3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er accent"/>
          <p:cNvSpPr/>
          <p:nvPr/>
        </p:nvSpPr>
        <p:spPr>
          <a:xfrm>
            <a:off x="1905000" y="4572000"/>
            <a:ext cx="50800" cy="17780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ogram name"/>
          <p:cNvSpPr txBox="1"/>
          <p:nvPr/>
        </p:nvSpPr>
        <p:spPr>
          <a:xfrm>
            <a:off x="2184400" y="4737100"/>
            <a:ext cx="782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Fraunces"/>
              </a:rPr>
              <a:t>FREED + legal help</a:t>
            </a:r>
          </a:p>
        </p:txBody>
      </p:sp>
      <p:sp>
        <p:nvSpPr>
          <p:cNvPr id="5" name="Rule"/>
          <p:cNvSpPr/>
          <p:nvPr/>
        </p:nvSpPr>
        <p:spPr>
          <a:xfrm>
            <a:off x="2184400" y="5118100"/>
            <a:ext cx="7823200" cy="12700"/>
          </a:xfrm>
          <a:prstGeom prst="rect">
            <a:avLst/>
          </a:prstGeom>
          <a:solidFill>
            <a:srgbClr val="D4A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ullet 1"/>
          <p:cNvSpPr/>
          <p:nvPr/>
        </p:nvSpPr>
        <p:spPr>
          <a:xfrm>
            <a:off x="2197100" y="53149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ne 1 label"/>
          <p:cNvSpPr txBox="1"/>
          <p:nvPr/>
        </p:nvSpPr>
        <p:spPr>
          <a:xfrm>
            <a:off x="2362200" y="52451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FREED — free medical equipment</a:t>
            </a:r>
          </a:p>
        </p:txBody>
      </p:sp>
      <p:sp>
        <p:nvSpPr>
          <p:cNvPr id="8" name="Line 1 detail"/>
          <p:cNvSpPr txBox="1"/>
          <p:nvPr/>
        </p:nvSpPr>
        <p:spPr>
          <a:xfrm>
            <a:off x="2362200" y="54483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530-477-3333</a:t>
            </a:r>
          </a:p>
        </p:txBody>
      </p:sp>
      <p:sp>
        <p:nvSpPr>
          <p:cNvPr id="9" name="Bullet 2"/>
          <p:cNvSpPr/>
          <p:nvPr/>
        </p:nvSpPr>
        <p:spPr>
          <a:xfrm>
            <a:off x="2197100" y="5759450"/>
            <a:ext cx="76200" cy="76200"/>
          </a:xfrm>
          <a:prstGeom prst="ellipse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ne 2 label"/>
          <p:cNvSpPr txBox="1"/>
          <p:nvPr/>
        </p:nvSpPr>
        <p:spPr>
          <a:xfrm>
            <a:off x="2362200" y="5689600"/>
            <a:ext cx="755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4A03C"/>
                </a:solidFill>
                <a:latin typeface="DM Sans"/>
              </a:rPr>
              <a:t>Legal Services of Northern California</a:t>
            </a:r>
          </a:p>
        </p:txBody>
      </p:sp>
      <p:sp>
        <p:nvSpPr>
          <p:cNvPr id="11" name="Line 2 detail"/>
          <p:cNvSpPr txBox="1"/>
          <p:nvPr/>
        </p:nvSpPr>
        <p:spPr>
          <a:xfrm>
            <a:off x="2362200" y="5892800"/>
            <a:ext cx="7556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BF6EE"/>
                </a:solidFill>
                <a:latin typeface="DM Sans"/>
              </a:rPr>
              <a:t>530-823-7560  ·  evening intake 866-815-5990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Outro end card">
    <p:bg>
      <p:bgPr>
        <a:solidFill>
          <a:srgbClr val="3A2A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un logo" descr="techempower-s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1524000"/>
            <a:ext cx="1270000" cy="1270000"/>
          </a:xfrm>
          <a:prstGeom prst="rect">
            <a:avLst/>
          </a:prstGeom>
        </p:spPr>
      </p:pic>
      <p:sp>
        <p:nvSpPr>
          <p:cNvPr id="3" name="Show title"/>
          <p:cNvSpPr txBox="1"/>
          <p:nvPr/>
        </p:nvSpPr>
        <p:spPr>
          <a:xfrm>
            <a:off x="1016000" y="2933700"/>
            <a:ext cx="1016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FBF6EE"/>
                </a:solidFill>
                <a:latin typeface="Fraunces"/>
              </a:rPr>
              <a:t>Wait, I Qualify?!</a:t>
            </a:r>
          </a:p>
        </p:txBody>
      </p:sp>
      <p:sp>
        <p:nvSpPr>
          <p:cNvPr id="4" name="Primary URL"/>
          <p:cNvSpPr txBox="1"/>
          <p:nvPr/>
        </p:nvSpPr>
        <p:spPr>
          <a:xfrm>
            <a:off x="1016000" y="3530600"/>
            <a:ext cx="1016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D4A03C"/>
                </a:solidFill>
                <a:latin typeface="DM Sans"/>
              </a:rPr>
              <a:t>techempower.org/show</a:t>
            </a:r>
          </a:p>
        </p:txBody>
      </p:sp>
      <p:sp>
        <p:nvSpPr>
          <p:cNvPr id="5" name="Teal rule"/>
          <p:cNvSpPr/>
          <p:nvPr/>
        </p:nvSpPr>
        <p:spPr>
          <a:xfrm>
            <a:off x="5461000" y="3924300"/>
            <a:ext cx="1270000" cy="19050"/>
          </a:xfrm>
          <a:prstGeom prst="rect">
            <a:avLst/>
          </a:prstGeom>
          <a:solidFill>
            <a:srgbClr val="2A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ne 2"/>
          <p:cNvSpPr txBox="1"/>
          <p:nvPr/>
        </p:nvSpPr>
        <p:spPr>
          <a:xfrm>
            <a:off x="1016000" y="4064000"/>
            <a:ext cx="1016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FBF6EE"/>
                </a:solidFill>
                <a:latin typeface="DM Sans"/>
              </a:rPr>
              <a:t>Dial 2-1-1   |   findhelp.org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1016000" y="6172200"/>
            <a:ext cx="1016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FBF6EE"/>
                </a:solidFill>
                <a:latin typeface="DM Sans"/>
              </a:rPr>
              <a:t>Free technology resources for low-income individuals and families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